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255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7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8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7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8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7.png"/><Relationship Id="rId3" Type="http://schemas.openxmlformats.org/officeDocument/2006/relationships/image" Target="../media/image7.png"/><Relationship Id="rId7" Type="http://schemas.openxmlformats.org/officeDocument/2006/relationships/image" Target="../media/image62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8.png"/><Relationship Id="rId9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7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8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7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26" Type="http://schemas.openxmlformats.org/officeDocument/2006/relationships/image" Target="../media/image116.png"/><Relationship Id="rId3" Type="http://schemas.openxmlformats.org/officeDocument/2006/relationships/image" Target="../media/image94.png"/><Relationship Id="rId21" Type="http://schemas.openxmlformats.org/officeDocument/2006/relationships/image" Target="../media/image111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5" Type="http://schemas.openxmlformats.org/officeDocument/2006/relationships/image" Target="../media/image11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29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24" Type="http://schemas.openxmlformats.org/officeDocument/2006/relationships/image" Target="../media/image114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23" Type="http://schemas.openxmlformats.org/officeDocument/2006/relationships/image" Target="../media/image113.png"/><Relationship Id="rId28" Type="http://schemas.openxmlformats.org/officeDocument/2006/relationships/image" Target="../media/image118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4" Type="http://schemas.openxmlformats.org/officeDocument/2006/relationships/image" Target="../media/image8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Relationship Id="rId22" Type="http://schemas.openxmlformats.org/officeDocument/2006/relationships/image" Target="../media/image112.png"/><Relationship Id="rId27" Type="http://schemas.openxmlformats.org/officeDocument/2006/relationships/image" Target="../media/image1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image" Target="../media/image120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4" Type="http://schemas.openxmlformats.org/officeDocument/2006/relationships/image" Target="../media/image8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3" Type="http://schemas.openxmlformats.org/officeDocument/2006/relationships/image" Target="../media/image7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5" Type="http://schemas.openxmlformats.org/officeDocument/2006/relationships/image" Target="../media/image145.png"/><Relationship Id="rId10" Type="http://schemas.openxmlformats.org/officeDocument/2006/relationships/image" Target="../media/image140.png"/><Relationship Id="rId4" Type="http://schemas.openxmlformats.org/officeDocument/2006/relationships/image" Target="../media/image8.pn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151.png"/><Relationship Id="rId5" Type="http://schemas.openxmlformats.org/officeDocument/2006/relationships/image" Target="../media/image147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4" Type="http://schemas.openxmlformats.org/officeDocument/2006/relationships/image" Target="../media/image8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4476750"/>
            <a:ext cx="28575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0" y="952500"/>
            <a:ext cx="142875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340995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438400" y="1428750"/>
            <a:ext cx="73152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Customer Shopping Behavior Analysis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2438400" y="2495550"/>
            <a:ext cx="73152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Uncovering Insights for Enhanced Sales, Satisfaction, and Loyalty</a:t>
            </a:r>
            <a:endParaRPr lang="en-US" sz="1800" dirty="0"/>
          </a:p>
        </p:txBody>
      </p:sp>
      <p:sp>
        <p:nvSpPr>
          <p:cNvPr id="10" name="Text 2"/>
          <p:cNvSpPr/>
          <p:nvPr/>
        </p:nvSpPr>
        <p:spPr>
          <a:xfrm>
            <a:off x="2438400" y="3829050"/>
            <a:ext cx="731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Name:</a:t>
            </a: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Krishna Baish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2438400" y="4133850"/>
            <a:ext cx="8778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Role:</a:t>
            </a: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Associate Data Analyst / Business Intelligence Developer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2438400" y="4438650"/>
            <a:ext cx="731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Degree: BCA (Bachelor of Computer Application)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1706880" y="5162550"/>
            <a:ext cx="8778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 year BCA Student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76400"/>
            <a:ext cx="3657600" cy="2209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8669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20002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257550"/>
            <a:ext cx="85725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3257550"/>
            <a:ext cx="85725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1676400"/>
            <a:ext cx="3657600" cy="2209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1866900"/>
            <a:ext cx="465088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5870" y="20002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7700" y="3257550"/>
            <a:ext cx="104775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6775" y="3257550"/>
            <a:ext cx="7620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1676400"/>
            <a:ext cx="3657600" cy="2209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3900" y="1866900"/>
            <a:ext cx="486519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44210" y="200025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8200" y="3524250"/>
            <a:ext cx="15240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4191000"/>
            <a:ext cx="11430000" cy="13335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381000" y="11811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</a:t>
            </a: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3,900</a:t>
            </a:r>
            <a:r>
              <a:rPr lang="en-US" sz="15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customer transactions reveals key insights that can drive business growth: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295400" y="2019300"/>
            <a:ext cx="23667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Disparity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571500" y="2590800"/>
            <a:ext cx="3276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Male customers generate </a:t>
            </a:r>
            <a:r>
              <a:rPr lang="en-US" sz="1350" b="1" dirty="0">
                <a:solidFill>
                  <a:srgbClr val="FF7F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2x</a:t>
            </a:r>
            <a:r>
              <a:rPr lang="en-US" sz="13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higher revenue than female customers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5075188" y="1885950"/>
            <a:ext cx="265911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High-Spending Discount Users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4457700" y="2590800"/>
            <a:ext cx="3276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7F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839</a:t>
            </a:r>
            <a:r>
              <a:rPr lang="en-US" sz="13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customers spend above average while using discounts</a:t>
            </a:r>
            <a:endParaRPr lang="en-US" sz="1350" dirty="0"/>
          </a:p>
        </p:txBody>
      </p:sp>
      <p:sp>
        <p:nvSpPr>
          <p:cNvPr id="25" name="Text 6"/>
          <p:cNvSpPr/>
          <p:nvPr/>
        </p:nvSpPr>
        <p:spPr>
          <a:xfrm>
            <a:off x="8982819" y="1885950"/>
            <a:ext cx="263768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Unsubscribed Repeat Buyers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8343900" y="2590800"/>
            <a:ext cx="32766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7F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2,518</a:t>
            </a:r>
            <a:r>
              <a:rPr lang="en-US" sz="13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repeat buyers remain unsubscribed, offering conversion opportunities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609600" y="44196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609600" y="47625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insights provide opportunities to optimize marketing strategies, improve customer engagement, and increase sales through targeted promotions.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11426726" y="62865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/ 12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81100"/>
            <a:ext cx="5562600" cy="487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97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495425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724150"/>
            <a:ext cx="1600200" cy="1562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725" y="2876550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2200" y="2724150"/>
            <a:ext cx="1600200" cy="1562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0375" y="2876550"/>
            <a:ext cx="3238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0" y="2724150"/>
            <a:ext cx="1600200" cy="1562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2975" y="2876550"/>
            <a:ext cx="3238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438650"/>
            <a:ext cx="5105400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1181100"/>
            <a:ext cx="5562600" cy="487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14097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0825" y="1495425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2209800"/>
            <a:ext cx="357188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60344" y="2324100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3124200"/>
            <a:ext cx="332036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66743" y="32385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4038600"/>
            <a:ext cx="31373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76715" y="4152900"/>
            <a:ext cx="11430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Problem &amp; Objectives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238250" y="1495425"/>
            <a:ext cx="275230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Problem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609600" y="2038350"/>
            <a:ext cx="5105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Retail company seeking to understand changes in customer shopping behavior across: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632460" y="3295650"/>
            <a:ext cx="1554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762000" y="3524250"/>
            <a:ext cx="1295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Age, gender, location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2514600" y="3295650"/>
            <a:ext cx="129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2514600" y="3752850"/>
            <a:ext cx="1295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Items, categories, pricing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4267200" y="3295650"/>
            <a:ext cx="129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Sales Channels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4267200" y="3752850"/>
            <a:ext cx="1295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Online, in-store, mobile</a:t>
            </a:r>
            <a:endParaRPr lang="en-US" sz="1050" dirty="0"/>
          </a:p>
        </p:txBody>
      </p:sp>
      <p:sp>
        <p:nvSpPr>
          <p:cNvPr id="32" name="Text 9"/>
          <p:cNvSpPr/>
          <p:nvPr/>
        </p:nvSpPr>
        <p:spPr>
          <a:xfrm>
            <a:off x="723900" y="4552950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interest: factors driving consumer decisions and repeat purchases (discounts, reviews, seasons, payment preferences)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7105650" y="1495425"/>
            <a:ext cx="281981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34" name="Text 11"/>
          <p:cNvSpPr/>
          <p:nvPr/>
        </p:nvSpPr>
        <p:spPr>
          <a:xfrm>
            <a:off x="6986588" y="2038350"/>
            <a:ext cx="55149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Key Customer Segments</a:t>
            </a:r>
            <a:endParaRPr lang="en-US" sz="1350" dirty="0"/>
          </a:p>
        </p:txBody>
      </p:sp>
      <p:sp>
        <p:nvSpPr>
          <p:cNvPr id="35" name="Text 12"/>
          <p:cNvSpPr/>
          <p:nvPr/>
        </p:nvSpPr>
        <p:spPr>
          <a:xfrm>
            <a:off x="6986588" y="2305050"/>
            <a:ext cx="459581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Discover distinct customer groups to enable targeted marketing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6961436" y="2952750"/>
            <a:ext cx="55451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Uncover Purchase Drivers</a:t>
            </a:r>
            <a:endParaRPr lang="en-US" sz="1350" dirty="0"/>
          </a:p>
        </p:txBody>
      </p:sp>
      <p:sp>
        <p:nvSpPr>
          <p:cNvPr id="37" name="Text 14"/>
          <p:cNvSpPr/>
          <p:nvPr/>
        </p:nvSpPr>
        <p:spPr>
          <a:xfrm>
            <a:off x="6961436" y="3219450"/>
            <a:ext cx="462096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Determine factors influencing buying decisions and repeat purchases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6943130" y="3867150"/>
            <a:ext cx="55671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 Actionable Recommendations</a:t>
            </a:r>
            <a:endParaRPr lang="en-US" sz="1350" dirty="0"/>
          </a:p>
        </p:txBody>
      </p:sp>
      <p:sp>
        <p:nvSpPr>
          <p:cNvPr id="39" name="Text 16"/>
          <p:cNvSpPr/>
          <p:nvPr/>
        </p:nvSpPr>
        <p:spPr>
          <a:xfrm>
            <a:off x="6943130" y="4133850"/>
            <a:ext cx="463927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Deliver insights for sales, customer satisfaction, and loyalty improvement</a:t>
            </a: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11426726" y="62865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 / 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428625" cy="533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219200"/>
            <a:ext cx="20002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2133600"/>
            <a:ext cx="2360712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950" y="2200275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4130" y="2133600"/>
            <a:ext cx="1717328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380" y="2200275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6175" y="2133600"/>
            <a:ext cx="1870323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51425" y="22002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8250" y="2819400"/>
            <a:ext cx="2438400" cy="1028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14575" y="2933700"/>
            <a:ext cx="2857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9525" y="3324225"/>
            <a:ext cx="914400" cy="19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6800" y="2895600"/>
            <a:ext cx="2438400" cy="876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8075" y="3324225"/>
            <a:ext cx="914400" cy="19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15350" y="2819400"/>
            <a:ext cx="2438400" cy="1028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05963" y="2933700"/>
            <a:ext cx="25717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4229100"/>
            <a:ext cx="3657600" cy="1409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4457700"/>
            <a:ext cx="17145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67200" y="4229100"/>
            <a:ext cx="3657600" cy="1409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57700" y="4457700"/>
            <a:ext cx="171450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53400" y="4229100"/>
            <a:ext cx="3657600" cy="1409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43900" y="4457700"/>
            <a:ext cx="190500" cy="1905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&amp; Methodology Overview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962025" y="1219200"/>
            <a:ext cx="120961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990600" y="1752600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3,900</a:t>
            </a:r>
            <a:r>
              <a:rPr lang="en-US" sz="13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purchases from a retail company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1352550" y="2133600"/>
            <a:ext cx="283285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Customer Demographics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3818930" y="2133600"/>
            <a:ext cx="206079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Purchase Details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5641925" y="2133600"/>
            <a:ext cx="22443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Shopping Behavior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352550" y="3314700"/>
            <a:ext cx="2209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131570" y="3543300"/>
            <a:ext cx="2651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33" name="Text 8"/>
          <p:cNvSpPr/>
          <p:nvPr/>
        </p:nvSpPr>
        <p:spPr>
          <a:xfrm>
            <a:off x="4991100" y="3238500"/>
            <a:ext cx="2209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4770120" y="3467100"/>
            <a:ext cx="2651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Insights Extraction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8629650" y="3314700"/>
            <a:ext cx="2209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8629650" y="3543300"/>
            <a:ext cx="2209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819150" y="4419600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1500" dirty="0"/>
          </a:p>
        </p:txBody>
      </p:sp>
      <p:sp>
        <p:nvSpPr>
          <p:cNvPr id="38" name="Text 13"/>
          <p:cNvSpPr/>
          <p:nvPr/>
        </p:nvSpPr>
        <p:spPr>
          <a:xfrm>
            <a:off x="571500" y="476250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Loading &amp; Cleaning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571500" y="499110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571500" y="521970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Missing Data Handling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4705350" y="4419600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</a:t>
            </a:r>
            <a:endParaRPr lang="en-US" sz="1500" dirty="0"/>
          </a:p>
        </p:txBody>
      </p:sp>
      <p:sp>
        <p:nvSpPr>
          <p:cNvPr id="42" name="Text 17"/>
          <p:cNvSpPr/>
          <p:nvPr/>
        </p:nvSpPr>
        <p:spPr>
          <a:xfrm>
            <a:off x="4457700" y="476250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Structured Queries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4457700" y="499110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Aggregations &amp; Groupings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4457700" y="521970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Table Joins &amp; Relationships</a:t>
            </a:r>
            <a:endParaRPr lang="en-US" sz="1200" dirty="0"/>
          </a:p>
        </p:txBody>
      </p:sp>
      <p:sp>
        <p:nvSpPr>
          <p:cNvPr id="45" name="Text 20"/>
          <p:cNvSpPr/>
          <p:nvPr/>
        </p:nvSpPr>
        <p:spPr>
          <a:xfrm>
            <a:off x="8610600" y="4419600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 BI</a:t>
            </a:r>
            <a:endParaRPr lang="en-US" sz="1500" dirty="0"/>
          </a:p>
        </p:txBody>
      </p:sp>
      <p:sp>
        <p:nvSpPr>
          <p:cNvPr id="46" name="Text 21"/>
          <p:cNvSpPr/>
          <p:nvPr/>
        </p:nvSpPr>
        <p:spPr>
          <a:xfrm>
            <a:off x="8343900" y="476250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47" name="Text 22"/>
          <p:cNvSpPr/>
          <p:nvPr/>
        </p:nvSpPr>
        <p:spPr>
          <a:xfrm>
            <a:off x="8343900" y="499110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48" name="Text 23"/>
          <p:cNvSpPr/>
          <p:nvPr/>
        </p:nvSpPr>
        <p:spPr>
          <a:xfrm>
            <a:off x="8343900" y="521970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Parameterized Reports</a:t>
            </a:r>
            <a:endParaRPr lang="en-US" sz="1200" dirty="0"/>
          </a:p>
        </p:txBody>
      </p:sp>
      <p:sp>
        <p:nvSpPr>
          <p:cNvPr id="50" name="Text 25"/>
          <p:cNvSpPr/>
          <p:nvPr/>
        </p:nvSpPr>
        <p:spPr>
          <a:xfrm>
            <a:off x="11426726" y="62865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/ 12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085850"/>
            <a:ext cx="9525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247900"/>
            <a:ext cx="3657600" cy="30575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4384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2524125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2247900"/>
            <a:ext cx="3657600" cy="30575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7700" y="24384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5813" y="2524125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2247900"/>
            <a:ext cx="3657600" cy="30575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3900" y="24384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2013" y="2524125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5562600"/>
            <a:ext cx="11430000" cy="5715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Preparation &amp; Feature Engineering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1200150" y="2543175"/>
            <a:ext cx="181004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571500" y="302895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Python-based data loading with Pandas</a:t>
            </a:r>
            <a:endParaRPr lang="en-US" sz="1200" dirty="0"/>
          </a:p>
        </p:txBody>
      </p:sp>
      <p:sp>
        <p:nvSpPr>
          <p:cNvPr id="18" name="Text 3"/>
          <p:cNvSpPr/>
          <p:nvPr/>
        </p:nvSpPr>
        <p:spPr>
          <a:xfrm>
            <a:off x="571500" y="3333750"/>
            <a:ext cx="32766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Initial exploration with </a:t>
            </a:r>
            <a:r>
              <a:rPr lang="en-US" sz="1200" dirty="0">
                <a:solidFill>
                  <a:srgbClr val="36454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df.info()</a:t>
            </a: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</a:t>
            </a:r>
            <a:r>
              <a:rPr lang="en-US" sz="1200" dirty="0">
                <a:solidFill>
                  <a:srgbClr val="36454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.describe()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571500" y="3886200"/>
            <a:ext cx="3276600" cy="695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Imputed </a:t>
            </a:r>
            <a:r>
              <a:rPr lang="en-US" sz="1200" b="1" dirty="0">
                <a:solidFill>
                  <a:srgbClr val="FF7F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37</a:t>
            </a: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missing </a:t>
            </a:r>
            <a:r>
              <a:rPr lang="en-US" sz="1200" dirty="0">
                <a:solidFill>
                  <a:srgbClr val="36454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Review Rating</a:t>
            </a: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values using median per product category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571500" y="4657725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Column standardization to snake_case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5086350" y="2543175"/>
            <a:ext cx="26269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2" name="Text 7"/>
          <p:cNvSpPr/>
          <p:nvPr/>
        </p:nvSpPr>
        <p:spPr>
          <a:xfrm>
            <a:off x="4457700" y="3028950"/>
            <a:ext cx="3276600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</a:t>
            </a:r>
            <a:r>
              <a:rPr lang="en-US" sz="1200" dirty="0">
                <a:solidFill>
                  <a:srgbClr val="36454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age_group</a:t>
            </a: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feature through binning customer ages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4457700" y="3571875"/>
            <a:ext cx="3276600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Engineered </a:t>
            </a:r>
            <a:r>
              <a:rPr lang="en-US" sz="1200" dirty="0">
                <a:solidFill>
                  <a:srgbClr val="36454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purchase_frequency_days</a:t>
            </a: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from purchase data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4457700" y="4114800"/>
            <a:ext cx="3276600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Identified and removed redundant </a:t>
            </a:r>
            <a:r>
              <a:rPr lang="en-US" sz="1200" dirty="0">
                <a:solidFill>
                  <a:srgbClr val="36454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promo_code_used</a:t>
            </a: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column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4457700" y="4657725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additional derived metrics for analysis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8972550" y="2543175"/>
            <a:ext cx="27464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Database Integration</a:t>
            </a:r>
            <a:endParaRPr lang="en-US" sz="1500" dirty="0"/>
          </a:p>
        </p:txBody>
      </p:sp>
      <p:sp>
        <p:nvSpPr>
          <p:cNvPr id="27" name="Text 12"/>
          <p:cNvSpPr/>
          <p:nvPr/>
        </p:nvSpPr>
        <p:spPr>
          <a:xfrm>
            <a:off x="8343900" y="302895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Loaded cleaned data into PostgreSQL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8343900" y="333375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optimized table structures for analysis</a:t>
            </a:r>
            <a:endParaRPr lang="en-US" sz="1200" dirty="0"/>
          </a:p>
        </p:txBody>
      </p:sp>
      <p:sp>
        <p:nvSpPr>
          <p:cNvPr id="29" name="Text 14"/>
          <p:cNvSpPr/>
          <p:nvPr/>
        </p:nvSpPr>
        <p:spPr>
          <a:xfrm>
            <a:off x="8343900" y="386715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Implemented indexing for query performance</a:t>
            </a:r>
            <a:endParaRPr lang="en-US" sz="1200" dirty="0"/>
          </a:p>
        </p:txBody>
      </p:sp>
      <p:sp>
        <p:nvSpPr>
          <p:cNvPr id="30" name="Text 15"/>
          <p:cNvSpPr/>
          <p:nvPr/>
        </p:nvSpPr>
        <p:spPr>
          <a:xfrm>
            <a:off x="8343900" y="440055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Established connection for SQL-based analysis</a:t>
            </a:r>
            <a:endParaRPr lang="en-US" sz="1200" dirty="0"/>
          </a:p>
        </p:txBody>
      </p:sp>
      <p:sp>
        <p:nvSpPr>
          <p:cNvPr id="31" name="Text 16"/>
          <p:cNvSpPr/>
          <p:nvPr/>
        </p:nvSpPr>
        <p:spPr>
          <a:xfrm>
            <a:off x="533400" y="5715000"/>
            <a:ext cx="1335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Outcome:</a:t>
            </a:r>
            <a:r>
              <a:rPr lang="en-US" sz="13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Clean, structured dataset prepared for comprehensive SQL analysis and Power BI visualization.</a:t>
            </a:r>
            <a:endParaRPr lang="en-US" sz="1350" dirty="0"/>
          </a:p>
        </p:txBody>
      </p:sp>
      <p:sp>
        <p:nvSpPr>
          <p:cNvPr id="33" name="Text 18"/>
          <p:cNvSpPr/>
          <p:nvPr/>
        </p:nvSpPr>
        <p:spPr>
          <a:xfrm>
            <a:off x="11426726" y="62865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/ 12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3657600" cy="3962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42875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990850"/>
            <a:ext cx="3276600" cy="1428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51485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1104900"/>
            <a:ext cx="3657600" cy="396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1295400"/>
            <a:ext cx="470743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8697" y="14287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101" y="3619500"/>
            <a:ext cx="5715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7700" y="4705350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1104900"/>
            <a:ext cx="3657600" cy="396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3900" y="1295400"/>
            <a:ext cx="56644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4245" y="142875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3900" y="2990850"/>
            <a:ext cx="3276600" cy="14287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43900" y="4514850"/>
            <a:ext cx="15240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5295900"/>
            <a:ext cx="11430000" cy="8382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&amp; Customer Insights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257300" y="1447800"/>
            <a:ext cx="29996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Gender-based Revenue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571500" y="198120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Male customers generated significantly higher revenue than female customers.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742950" y="4495800"/>
            <a:ext cx="3276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Male customers contributed over double the revenue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5042743" y="1314450"/>
            <a:ext cx="269155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High-Spending Discount Users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4457700" y="1981200"/>
            <a:ext cx="3276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Identified </a:t>
            </a:r>
            <a:r>
              <a:rPr lang="en-US" sz="1200" b="1" dirty="0">
                <a:solidFill>
                  <a:srgbClr val="CA8A0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839</a:t>
            </a: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customers who utilize discounts while maintaining above-average purchase amounts.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5106591" y="4152900"/>
            <a:ext cx="19786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839</a:t>
            </a:r>
            <a:endParaRPr lang="en-US" sz="1350" dirty="0"/>
          </a:p>
        </p:txBody>
      </p:sp>
      <p:sp>
        <p:nvSpPr>
          <p:cNvPr id="27" name="Text 7"/>
          <p:cNvSpPr/>
          <p:nvPr/>
        </p:nvSpPr>
        <p:spPr>
          <a:xfrm>
            <a:off x="4908724" y="4419600"/>
            <a:ext cx="237440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High-spending discount users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4600575" y="4686300"/>
            <a:ext cx="3931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Indicates effective discount targeting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9024640" y="1314450"/>
            <a:ext cx="259586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Subscription Conversion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8343900" y="1981200"/>
            <a:ext cx="3276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Non-subscribers represent a larger customer base with </a:t>
            </a:r>
            <a:r>
              <a:rPr lang="en-US" sz="12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2,518</a:t>
            </a: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repeat buyers available for conversion.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8534400" y="4495800"/>
            <a:ext cx="3276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2,518 unsubscribed repeat buyers represent a significant conversion opportunity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533400" y="5448300"/>
            <a:ext cx="11125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Takeaway:</a:t>
            </a:r>
            <a:r>
              <a:rPr lang="en-US" sz="13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Target marketing efforts toward male customers for revenue growth and develop subscription conversion strategies for high-value repeat customers.</a:t>
            </a:r>
            <a:endParaRPr lang="en-US" sz="1350" dirty="0"/>
          </a:p>
        </p:txBody>
      </p:sp>
      <p:sp>
        <p:nvSpPr>
          <p:cNvPr id="34" name="Text 14"/>
          <p:cNvSpPr/>
          <p:nvPr/>
        </p:nvSpPr>
        <p:spPr>
          <a:xfrm>
            <a:off x="11426726" y="62865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12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2400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95400"/>
            <a:ext cx="21907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600200"/>
            <a:ext cx="52959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733800"/>
            <a:ext cx="5600700" cy="2400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924300"/>
            <a:ext cx="1524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229100"/>
            <a:ext cx="5295900" cy="1524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1104900"/>
            <a:ext cx="5600700" cy="5029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1295400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25221" y="1600200"/>
            <a:ext cx="5715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24430" y="1600200"/>
            <a:ext cx="5715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2700" y="3105150"/>
            <a:ext cx="52959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3238500"/>
            <a:ext cx="104775" cy="1333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 Performance Analysis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828675" y="12573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0B2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Rated Products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762000" y="38862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0B2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Discount-Dependent Products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6677025" y="12573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0B2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Shipping Type Impact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7448580" y="2152650"/>
            <a:ext cx="11247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7448580" y="2419350"/>
            <a:ext cx="11247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$58.46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7448580" y="2686050"/>
            <a:ext cx="11247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Purchase</a:t>
            </a:r>
            <a:endParaRPr lang="en-US" sz="1050" dirty="0"/>
          </a:p>
        </p:txBody>
      </p:sp>
      <p:sp>
        <p:nvSpPr>
          <p:cNvPr id="23" name="Text 7"/>
          <p:cNvSpPr/>
          <p:nvPr/>
        </p:nvSpPr>
        <p:spPr>
          <a:xfrm>
            <a:off x="8784431" y="2047875"/>
            <a:ext cx="54274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14B8A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VS</a:t>
            </a:r>
            <a:endParaRPr lang="en-US" sz="2700" dirty="0"/>
          </a:p>
        </p:txBody>
      </p:sp>
      <p:sp>
        <p:nvSpPr>
          <p:cNvPr id="24" name="Text 8"/>
          <p:cNvSpPr/>
          <p:nvPr/>
        </p:nvSpPr>
        <p:spPr>
          <a:xfrm>
            <a:off x="9447788" y="2152650"/>
            <a:ext cx="11247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Express</a:t>
            </a:r>
            <a:endParaRPr lang="en-US" sz="1350" dirty="0"/>
          </a:p>
        </p:txBody>
      </p:sp>
      <p:sp>
        <p:nvSpPr>
          <p:cNvPr id="25" name="Text 9"/>
          <p:cNvSpPr/>
          <p:nvPr/>
        </p:nvSpPr>
        <p:spPr>
          <a:xfrm>
            <a:off x="9447788" y="2419350"/>
            <a:ext cx="11247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$60.48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9447788" y="2686050"/>
            <a:ext cx="11247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Purchase</a:t>
            </a:r>
            <a:endParaRPr lang="en-US" sz="1050" dirty="0"/>
          </a:p>
        </p:txBody>
      </p:sp>
      <p:sp>
        <p:nvSpPr>
          <p:cNvPr id="27" name="Text 11"/>
          <p:cNvSpPr/>
          <p:nvPr/>
        </p:nvSpPr>
        <p:spPr>
          <a:xfrm>
            <a:off x="6657975" y="3219450"/>
            <a:ext cx="5067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Insight:</a:t>
            </a:r>
            <a:r>
              <a:rPr lang="en-US" sz="10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Express shipping users spend </a:t>
            </a:r>
            <a:r>
              <a:rPr lang="en-US" sz="1050" b="1" dirty="0">
                <a:solidFill>
                  <a:srgbClr val="FF7F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$2.02</a:t>
            </a:r>
            <a:r>
              <a:rPr lang="en-US" sz="10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more on average, suggesting a willingness to pay for speed.</a:t>
            </a:r>
            <a:endParaRPr lang="en-US" sz="1050" dirty="0"/>
          </a:p>
        </p:txBody>
      </p:sp>
      <p:sp>
        <p:nvSpPr>
          <p:cNvPr id="29" name="Text 13"/>
          <p:cNvSpPr/>
          <p:nvPr/>
        </p:nvSpPr>
        <p:spPr>
          <a:xfrm>
            <a:off x="11426726" y="62865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 / 12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1EB9DB-56E8-81A0-9F11-A75271768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24000"/>
            <a:ext cx="11430000" cy="464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676400"/>
            <a:ext cx="3606850" cy="723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828800"/>
            <a:ext cx="390525" cy="419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90500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650" y="1676400"/>
            <a:ext cx="3606850" cy="723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06950" y="1828800"/>
            <a:ext cx="371475" cy="419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3150" y="1905000"/>
            <a:ext cx="2190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1899" y="1676400"/>
            <a:ext cx="3606850" cy="723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6199" y="1828800"/>
            <a:ext cx="371475" cy="419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42399" y="1905000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2552700"/>
            <a:ext cx="1258491" cy="2476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" y="2619375"/>
            <a:ext cx="104775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0441" y="2619375"/>
            <a:ext cx="76200" cy="114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49041" y="2552700"/>
            <a:ext cx="1131094" cy="2476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44291" y="2619375"/>
            <a:ext cx="142875" cy="114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08684" y="2619375"/>
            <a:ext cx="76200" cy="114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37284" y="2552700"/>
            <a:ext cx="1175593" cy="2476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32534" y="2619375"/>
            <a:ext cx="104775" cy="114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41428" y="2619375"/>
            <a:ext cx="76200" cy="114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3400" y="2952750"/>
            <a:ext cx="5486400" cy="26860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3409950"/>
            <a:ext cx="5257800" cy="1828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48843" y="5353050"/>
            <a:ext cx="114300" cy="114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69605" y="5353050"/>
            <a:ext cx="114300" cy="114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72200" y="2952750"/>
            <a:ext cx="5486400" cy="26860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86500" y="3409950"/>
            <a:ext cx="5257800" cy="1828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3400" y="58293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92501" y="58293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51750" y="5829300"/>
            <a:ext cx="13335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 BI Dashboard Overview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381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Interactive visualization platform for real-time analysis of customer shopping behavior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1152525" y="1790700"/>
            <a:ext cx="12853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Customers</a:t>
            </a:r>
            <a:endParaRPr lang="en-US" sz="1050" dirty="0"/>
          </a:p>
        </p:txBody>
      </p:sp>
      <p:sp>
        <p:nvSpPr>
          <p:cNvPr id="35" name="Text 3"/>
          <p:cNvSpPr/>
          <p:nvPr/>
        </p:nvSpPr>
        <p:spPr>
          <a:xfrm>
            <a:off x="1152525" y="1981200"/>
            <a:ext cx="128533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3.9K</a:t>
            </a:r>
            <a:endParaRPr lang="en-US" sz="1800" dirty="0"/>
          </a:p>
        </p:txBody>
      </p:sp>
      <p:sp>
        <p:nvSpPr>
          <p:cNvPr id="36" name="Text 4"/>
          <p:cNvSpPr/>
          <p:nvPr/>
        </p:nvSpPr>
        <p:spPr>
          <a:xfrm>
            <a:off x="4892725" y="1790700"/>
            <a:ext cx="18045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Purchase Amount</a:t>
            </a:r>
            <a:endParaRPr lang="en-US" sz="1050" dirty="0"/>
          </a:p>
        </p:txBody>
      </p:sp>
      <p:sp>
        <p:nvSpPr>
          <p:cNvPr id="37" name="Text 5"/>
          <p:cNvSpPr/>
          <p:nvPr/>
        </p:nvSpPr>
        <p:spPr>
          <a:xfrm>
            <a:off x="4892725" y="1981200"/>
            <a:ext cx="180451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$59.76</a:t>
            </a:r>
            <a:endParaRPr lang="en-US" sz="1800" dirty="0"/>
          </a:p>
        </p:txBody>
      </p:sp>
      <p:sp>
        <p:nvSpPr>
          <p:cNvPr id="38" name="Text 6"/>
          <p:cNvSpPr/>
          <p:nvPr/>
        </p:nvSpPr>
        <p:spPr>
          <a:xfrm>
            <a:off x="8651974" y="1790700"/>
            <a:ext cx="153590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Review Rating</a:t>
            </a:r>
            <a:endParaRPr lang="en-US" sz="1050" dirty="0"/>
          </a:p>
        </p:txBody>
      </p:sp>
      <p:sp>
        <p:nvSpPr>
          <p:cNvPr id="39" name="Text 7"/>
          <p:cNvSpPr/>
          <p:nvPr/>
        </p:nvSpPr>
        <p:spPr>
          <a:xfrm>
            <a:off x="8651974" y="1981200"/>
            <a:ext cx="153590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3.75</a:t>
            </a:r>
            <a:endParaRPr lang="en-US" sz="1800" dirty="0"/>
          </a:p>
        </p:txBody>
      </p:sp>
      <p:sp>
        <p:nvSpPr>
          <p:cNvPr id="40" name="Text 8"/>
          <p:cNvSpPr/>
          <p:nvPr/>
        </p:nvSpPr>
        <p:spPr>
          <a:xfrm>
            <a:off x="771525" y="2552700"/>
            <a:ext cx="151018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20B2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Last 6 Months</a:t>
            </a:r>
            <a:endParaRPr lang="en-US" sz="900" dirty="0"/>
          </a:p>
        </p:txBody>
      </p:sp>
      <p:sp>
        <p:nvSpPr>
          <p:cNvPr id="41" name="Text 9"/>
          <p:cNvSpPr/>
          <p:nvPr/>
        </p:nvSpPr>
        <p:spPr>
          <a:xfrm>
            <a:off x="2125266" y="2552700"/>
            <a:ext cx="135731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20B2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Gender: All</a:t>
            </a:r>
            <a:endParaRPr lang="en-US" sz="900" dirty="0"/>
          </a:p>
        </p:txBody>
      </p:sp>
      <p:sp>
        <p:nvSpPr>
          <p:cNvPr id="42" name="Text 10"/>
          <p:cNvSpPr/>
          <p:nvPr/>
        </p:nvSpPr>
        <p:spPr>
          <a:xfrm>
            <a:off x="3275409" y="2552700"/>
            <a:ext cx="1410712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20B2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Discount: All</a:t>
            </a:r>
            <a:endParaRPr lang="en-US" sz="900" dirty="0"/>
          </a:p>
        </p:txBody>
      </p:sp>
      <p:sp>
        <p:nvSpPr>
          <p:cNvPr id="43" name="Text 11"/>
          <p:cNvSpPr/>
          <p:nvPr/>
        </p:nvSpPr>
        <p:spPr>
          <a:xfrm>
            <a:off x="647700" y="306705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44" name="Text 12"/>
          <p:cNvSpPr/>
          <p:nvPr/>
        </p:nvSpPr>
        <p:spPr>
          <a:xfrm>
            <a:off x="2801243" y="5314950"/>
            <a:ext cx="3791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Male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3422005" y="5314950"/>
            <a:ext cx="57864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Female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6286500" y="3067050"/>
            <a:ext cx="6309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Purchase Frequency Distribution</a:t>
            </a:r>
            <a:endParaRPr lang="en-US" sz="1350" dirty="0"/>
          </a:p>
        </p:txBody>
      </p:sp>
      <p:sp>
        <p:nvSpPr>
          <p:cNvPr id="47" name="Text 15"/>
          <p:cNvSpPr/>
          <p:nvPr/>
        </p:nvSpPr>
        <p:spPr>
          <a:xfrm>
            <a:off x="6286500" y="5314950"/>
            <a:ext cx="76063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 purchase</a:t>
            </a:r>
            <a:endParaRPr lang="en-US" sz="900" dirty="0"/>
          </a:p>
        </p:txBody>
      </p:sp>
      <p:sp>
        <p:nvSpPr>
          <p:cNvPr id="48" name="Text 16"/>
          <p:cNvSpPr/>
          <p:nvPr/>
        </p:nvSpPr>
        <p:spPr>
          <a:xfrm>
            <a:off x="7931051" y="5314950"/>
            <a:ext cx="83206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purchases</a:t>
            </a:r>
            <a:endParaRPr lang="en-US" sz="900" dirty="0"/>
          </a:p>
        </p:txBody>
      </p:sp>
      <p:sp>
        <p:nvSpPr>
          <p:cNvPr id="49" name="Text 17"/>
          <p:cNvSpPr/>
          <p:nvPr/>
        </p:nvSpPr>
        <p:spPr>
          <a:xfrm>
            <a:off x="9635133" y="5314950"/>
            <a:ext cx="13090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...</a:t>
            </a:r>
            <a:endParaRPr lang="en-US" sz="900" dirty="0"/>
          </a:p>
        </p:txBody>
      </p:sp>
      <p:sp>
        <p:nvSpPr>
          <p:cNvPr id="50" name="Text 18"/>
          <p:cNvSpPr/>
          <p:nvPr/>
        </p:nvSpPr>
        <p:spPr>
          <a:xfrm>
            <a:off x="10754916" y="5314950"/>
            <a:ext cx="94690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5+ purchases</a:t>
            </a:r>
            <a:endParaRPr lang="en-US" sz="900" dirty="0"/>
          </a:p>
        </p:txBody>
      </p:sp>
      <p:sp>
        <p:nvSpPr>
          <p:cNvPr id="51" name="Text 19"/>
          <p:cNvSpPr/>
          <p:nvPr/>
        </p:nvSpPr>
        <p:spPr>
          <a:xfrm>
            <a:off x="762000" y="5791200"/>
            <a:ext cx="25908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Interactive filtering &amp; slicers</a:t>
            </a:r>
            <a:endParaRPr lang="en-US" sz="1200" dirty="0"/>
          </a:p>
        </p:txBody>
      </p:sp>
      <p:sp>
        <p:nvSpPr>
          <p:cNvPr id="52" name="Text 20"/>
          <p:cNvSpPr/>
          <p:nvPr/>
        </p:nvSpPr>
        <p:spPr>
          <a:xfrm>
            <a:off x="4521101" y="5791200"/>
            <a:ext cx="20256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Drill-down capabilities</a:t>
            </a:r>
            <a:endParaRPr lang="en-US" sz="1200" dirty="0"/>
          </a:p>
        </p:txBody>
      </p:sp>
      <p:sp>
        <p:nvSpPr>
          <p:cNvPr id="53" name="Text 21"/>
          <p:cNvSpPr/>
          <p:nvPr/>
        </p:nvSpPr>
        <p:spPr>
          <a:xfrm>
            <a:off x="8261300" y="5791200"/>
            <a:ext cx="25633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Export &amp; share functionality</a:t>
            </a:r>
            <a:endParaRPr lang="en-US" sz="1200" dirty="0"/>
          </a:p>
        </p:txBody>
      </p:sp>
      <p:sp>
        <p:nvSpPr>
          <p:cNvPr id="55" name="Text 23"/>
          <p:cNvSpPr/>
          <p:nvPr/>
        </p:nvSpPr>
        <p:spPr>
          <a:xfrm>
            <a:off x="11426726" y="63246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 / 12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1975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1381125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104900"/>
            <a:ext cx="561975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0" y="12954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1381125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667000"/>
            <a:ext cx="561975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8575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25" y="29432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0" y="2667000"/>
            <a:ext cx="5619750" cy="1371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28575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1288" y="2943225"/>
            <a:ext cx="25717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229100"/>
            <a:ext cx="11430000" cy="914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41960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5325" y="4505325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5372100"/>
            <a:ext cx="11430000" cy="1066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200150" y="12954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Unsubscribed Repeat Buyers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200150" y="16002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campaigns to convert </a:t>
            </a:r>
            <a:r>
              <a:rPr lang="en-US" sz="12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2,518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unsubscribed repeat buyers by highlighting exclusive benefits.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7010400" y="12954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Tiered Loyalty Programs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7010400" y="1600200"/>
            <a:ext cx="4610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a tiered loyalty program to reward frequent purchasers and encourage "Returning" customers to become "Loyal."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1200150" y="28575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 Discount Strategies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1200150" y="3162300"/>
            <a:ext cx="4610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profitability of discount-dependent products and optimize discount strategies to balance sales boosts with margin control.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7010400" y="28575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Leverage Top-Rated Products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7010400" y="3162300"/>
            <a:ext cx="4610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highest-rated products in marketing campaigns and website layouts to capitalize on proven customer satisfaction.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1200150" y="4419600"/>
            <a:ext cx="93897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Focus on High-Revenue Demographics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1200150" y="4724400"/>
            <a:ext cx="112676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Tailor marketing messages to high-revenue age groups and consider premium service offerings for express-shipping users.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533400" y="5524500"/>
            <a:ext cx="1112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Impact</a:t>
            </a:r>
            <a:endParaRPr lang="en-US" sz="1350" dirty="0"/>
          </a:p>
        </p:txBody>
      </p:sp>
      <p:sp>
        <p:nvSpPr>
          <p:cNvPr id="32" name="Text 12"/>
          <p:cNvSpPr/>
          <p:nvPr/>
        </p:nvSpPr>
        <p:spPr>
          <a:xfrm>
            <a:off x="533400" y="5829300"/>
            <a:ext cx="1112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data-driven strategies can increase subscriber conversion, boost customer retention, optimize marketing spend, and enhance overall revenue.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11341894" y="64389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 / 12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81100"/>
            <a:ext cx="3657600" cy="2590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71600"/>
            <a:ext cx="528489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657" y="150495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1181100"/>
            <a:ext cx="3657600" cy="2590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700" y="13716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3438" y="150495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1181100"/>
            <a:ext cx="3657600" cy="2590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3900" y="13716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1063" y="150495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000500"/>
            <a:ext cx="3657600" cy="2209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1910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8663" y="4324350"/>
            <a:ext cx="25717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7200" y="4000500"/>
            <a:ext cx="3657600" cy="2209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57700" y="4191000"/>
            <a:ext cx="516285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0043" y="4324350"/>
            <a:ext cx="17145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Technical Skills Demonstrated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252389" y="1390650"/>
            <a:ext cx="259571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 Data Manipulation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533400" y="20955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cleaning and transformation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533400" y="2362200"/>
            <a:ext cx="3314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engineering (age groups, frequency)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533400" y="2857500"/>
            <a:ext cx="3314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Missing data handling (median imputation)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533400" y="33528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Standardization and consistency checks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5181600" y="1524000"/>
            <a:ext cx="295001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Complex SQL Querying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4419600" y="20955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Structured queries for insights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4419600" y="23622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Aggregations by customer and product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4419600" y="26289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Joins across multiple tables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4419600" y="28956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Window functions for advanced analysis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9067800" y="1524000"/>
            <a:ext cx="2616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8305800" y="20955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Interactive visualizations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8305800" y="23622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Calculated metrics and KPIs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8305800" y="26289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Slicers and filters for interactivity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8305800" y="28956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Parameterized reports for flexibility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1295400" y="4343400"/>
            <a:ext cx="24590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Statistical Analysis</a:t>
            </a:r>
            <a:endParaRPr lang="en-US" sz="1500" dirty="0"/>
          </a:p>
        </p:txBody>
      </p:sp>
      <p:sp>
        <p:nvSpPr>
          <p:cNvPr id="39" name="Text 17"/>
          <p:cNvSpPr/>
          <p:nvPr/>
        </p:nvSpPr>
        <p:spPr>
          <a:xfrm>
            <a:off x="533400" y="49149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40" name="Text 18"/>
          <p:cNvSpPr/>
          <p:nvPr/>
        </p:nvSpPr>
        <p:spPr>
          <a:xfrm>
            <a:off x="533400" y="51816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533400" y="54483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Correlation analysis</a:t>
            </a:r>
            <a:endParaRPr lang="en-US" sz="1200" dirty="0"/>
          </a:p>
        </p:txBody>
      </p:sp>
      <p:sp>
        <p:nvSpPr>
          <p:cNvPr id="42" name="Text 20"/>
          <p:cNvSpPr/>
          <p:nvPr/>
        </p:nvSpPr>
        <p:spPr>
          <a:xfrm>
            <a:off x="533400" y="57150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Confidence intervals</a:t>
            </a:r>
            <a:endParaRPr lang="en-US" sz="1200" dirty="0"/>
          </a:p>
        </p:txBody>
      </p:sp>
      <p:sp>
        <p:nvSpPr>
          <p:cNvPr id="43" name="Text 21"/>
          <p:cNvSpPr/>
          <p:nvPr/>
        </p:nvSpPr>
        <p:spPr>
          <a:xfrm>
            <a:off x="5126385" y="4210050"/>
            <a:ext cx="260791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Recommendation</a:t>
            </a:r>
            <a:endParaRPr lang="en-US" sz="1500" dirty="0"/>
          </a:p>
        </p:txBody>
      </p:sp>
      <p:sp>
        <p:nvSpPr>
          <p:cNvPr id="44" name="Text 22"/>
          <p:cNvSpPr/>
          <p:nvPr/>
        </p:nvSpPr>
        <p:spPr>
          <a:xfrm>
            <a:off x="4419600" y="49149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strategy formulation</a:t>
            </a:r>
            <a:endParaRPr lang="en-US" sz="1200" dirty="0"/>
          </a:p>
        </p:txBody>
      </p:sp>
      <p:sp>
        <p:nvSpPr>
          <p:cNvPr id="45" name="Text 23"/>
          <p:cNvSpPr/>
          <p:nvPr/>
        </p:nvSpPr>
        <p:spPr>
          <a:xfrm>
            <a:off x="4419600" y="5181600"/>
            <a:ext cx="3314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ROI analysis</a:t>
            </a:r>
            <a:endParaRPr lang="en-US" sz="1200" dirty="0"/>
          </a:p>
        </p:txBody>
      </p:sp>
      <p:sp>
        <p:nvSpPr>
          <p:cNvPr id="46" name="Text 24"/>
          <p:cNvSpPr/>
          <p:nvPr/>
        </p:nvSpPr>
        <p:spPr>
          <a:xfrm>
            <a:off x="4419600" y="54483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Stakeholder communication</a:t>
            </a:r>
            <a:endParaRPr lang="en-US" sz="1200" dirty="0"/>
          </a:p>
        </p:txBody>
      </p:sp>
      <p:sp>
        <p:nvSpPr>
          <p:cNvPr id="47" name="Text 25"/>
          <p:cNvSpPr/>
          <p:nvPr/>
        </p:nvSpPr>
        <p:spPr>
          <a:xfrm>
            <a:off x="4419600" y="57150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planning</a:t>
            </a:r>
            <a:endParaRPr lang="en-US" sz="1200" dirty="0"/>
          </a:p>
        </p:txBody>
      </p:sp>
      <p:sp>
        <p:nvSpPr>
          <p:cNvPr id="52" name="Text 30"/>
          <p:cNvSpPr/>
          <p:nvPr/>
        </p:nvSpPr>
        <p:spPr>
          <a:xfrm>
            <a:off x="11341894" y="62865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 / 12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00200"/>
            <a:ext cx="5600700" cy="1181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907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1876425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600200"/>
            <a:ext cx="5600700" cy="1181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7907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8913" y="1876425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009900"/>
            <a:ext cx="5600700" cy="1409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2004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25" y="32861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3009900"/>
            <a:ext cx="5600700" cy="1409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2004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6050" y="3286125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724400"/>
            <a:ext cx="11430000" cy="914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057775"/>
            <a:ext cx="171450" cy="2286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Next Steps &amp; Future Opportunities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381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Continued analysis can unlock additional value through advanced techniques: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200150" y="17907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Predictive Modeling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200150" y="21336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models to forecast customer churn and purchase behavior, enabling proactive retention strategies.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7029450" y="17907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A/B Testing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7029450" y="21336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Design experiments to evaluate new marketing strategies and optimize discount policies for maximum ROI.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1200150" y="32004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Sentiment Analysis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1200150" y="35433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customer reviews to gain deeper insights into product satisfaction and identify improvement areas.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7029450" y="32004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Personalization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7029450" y="3543300"/>
            <a:ext cx="45910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personalized product recommendations and marketing communications to enhance customer experience.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895350" y="4914900"/>
            <a:ext cx="10725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initiatives leverage the analyzed data to drive continuous improvement in customer engagement and business performance.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11341894" y="62865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 / 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941</Words>
  <Application>Microsoft Office PowerPoint</Application>
  <PresentationFormat>Widescreen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ui-monospace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kuze836@gmail.com</cp:lastModifiedBy>
  <cp:revision>2</cp:revision>
  <dcterms:created xsi:type="dcterms:W3CDTF">2026-01-18T15:19:37Z</dcterms:created>
  <dcterms:modified xsi:type="dcterms:W3CDTF">2026-01-18T17:04:16Z</dcterms:modified>
</cp:coreProperties>
</file>